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65" r:id="rId5"/>
    <p:sldId id="264" r:id="rId6"/>
  </p:sldIdLst>
  <p:sldSz cx="18288000" cy="10287000"/>
  <p:notesSz cx="6858000" cy="9144000"/>
  <p:embeddedFontLst>
    <p:embeddedFont>
      <p:font typeface="Noto Sans T Chinese" panose="02020500000000000000" charset="-120"/>
      <p:regular r:id="rId8"/>
    </p:embeddedFont>
    <p:embeddedFont>
      <p:font typeface="Noto Sans T Chinese Bold" panose="02020500000000000000" charset="-120"/>
      <p:regular r:id="rId9"/>
    </p:embeddedFont>
    <p:embeddedFont>
      <p:font typeface="Noto Sans TC" panose="020B0200000000000000" pitchFamily="34" charset="-12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6635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2680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96753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9525" y="790431"/>
            <a:ext cx="18307050" cy="47625"/>
            <a:chOff x="0" y="0"/>
            <a:chExt cx="244094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63493"/>
            </a:xfrm>
            <a:custGeom>
              <a:avLst/>
              <a:gdLst/>
              <a:ahLst/>
              <a:cxnLst/>
              <a:rect l="l" t="t" r="r" b="b"/>
              <a:pathLst>
                <a:path w="24409400" h="63493">
                  <a:moveTo>
                    <a:pt x="24409400" y="0"/>
                  </a:moveTo>
                  <a:lnTo>
                    <a:pt x="0" y="0"/>
                  </a:lnTo>
                  <a:lnTo>
                    <a:pt x="0" y="63493"/>
                  </a:lnTo>
                  <a:lnTo>
                    <a:pt x="24409400" y="63493"/>
                  </a:ln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C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5199214" y="47665"/>
            <a:ext cx="3088786" cy="696516"/>
            <a:chOff x="0" y="0"/>
            <a:chExt cx="4118381" cy="9286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8356" cy="928751"/>
            </a:xfrm>
            <a:custGeom>
              <a:avLst/>
              <a:gdLst/>
              <a:ahLst/>
              <a:cxnLst/>
              <a:rect l="l" t="t" r="r" b="b"/>
              <a:pathLst>
                <a:path w="4118356" h="928751">
                  <a:moveTo>
                    <a:pt x="0" y="0"/>
                  </a:moveTo>
                  <a:lnTo>
                    <a:pt x="4118356" y="0"/>
                  </a:lnTo>
                  <a:lnTo>
                    <a:pt x="4118356" y="928751"/>
                  </a:lnTo>
                  <a:lnTo>
                    <a:pt x="0" y="92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402240" y="744180"/>
            <a:ext cx="1895284" cy="974503"/>
            <a:chOff x="0" y="0"/>
            <a:chExt cx="2527046" cy="1299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7046" cy="1299337"/>
            </a:xfrm>
            <a:custGeom>
              <a:avLst/>
              <a:gdLst/>
              <a:ahLst/>
              <a:cxnLst/>
              <a:rect l="l" t="t" r="r" b="b"/>
              <a:pathLst>
                <a:path w="2527046" h="1299337">
                  <a:moveTo>
                    <a:pt x="0" y="0"/>
                  </a:moveTo>
                  <a:lnTo>
                    <a:pt x="2527046" y="0"/>
                  </a:lnTo>
                  <a:lnTo>
                    <a:pt x="2527046" y="1299337"/>
                  </a:lnTo>
                  <a:lnTo>
                    <a:pt x="0" y="1299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176707" y="2278074"/>
            <a:ext cx="9525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28699" y="6239308"/>
            <a:ext cx="11991975" cy="861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zh-TW" altLang="en-US" sz="5199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設備異常報告：電源供應器冒煙事件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343900"/>
            <a:ext cx="4622483" cy="613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2026/</a:t>
            </a:r>
            <a:r>
              <a:rPr lang="en-US" altLang="zh-TW" sz="37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10</a:t>
            </a:r>
            <a:r>
              <a:rPr lang="en-US" sz="37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/22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26079" y="9786979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9525" y="790431"/>
            <a:ext cx="18307050" cy="47625"/>
            <a:chOff x="0" y="0"/>
            <a:chExt cx="244094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63493"/>
            </a:xfrm>
            <a:custGeom>
              <a:avLst/>
              <a:gdLst/>
              <a:ahLst/>
              <a:cxnLst/>
              <a:rect l="l" t="t" r="r" b="b"/>
              <a:pathLst>
                <a:path w="24409400" h="63493">
                  <a:moveTo>
                    <a:pt x="24409400" y="0"/>
                  </a:moveTo>
                  <a:lnTo>
                    <a:pt x="0" y="0"/>
                  </a:lnTo>
                  <a:lnTo>
                    <a:pt x="0" y="63493"/>
                  </a:lnTo>
                  <a:lnTo>
                    <a:pt x="24409400" y="63493"/>
                  </a:ln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C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5199214" y="47665"/>
            <a:ext cx="3088786" cy="696516"/>
            <a:chOff x="0" y="0"/>
            <a:chExt cx="4118381" cy="9286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8356" cy="928751"/>
            </a:xfrm>
            <a:custGeom>
              <a:avLst/>
              <a:gdLst/>
              <a:ahLst/>
              <a:cxnLst/>
              <a:rect l="l" t="t" r="r" b="b"/>
              <a:pathLst>
                <a:path w="4118356" h="928751">
                  <a:moveTo>
                    <a:pt x="0" y="0"/>
                  </a:moveTo>
                  <a:lnTo>
                    <a:pt x="4118356" y="0"/>
                  </a:lnTo>
                  <a:lnTo>
                    <a:pt x="4118356" y="928751"/>
                  </a:lnTo>
                  <a:lnTo>
                    <a:pt x="0" y="92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402240" y="744180"/>
            <a:ext cx="1895284" cy="974503"/>
            <a:chOff x="0" y="0"/>
            <a:chExt cx="2527046" cy="1299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7046" cy="1299337"/>
            </a:xfrm>
            <a:custGeom>
              <a:avLst/>
              <a:gdLst/>
              <a:ahLst/>
              <a:cxnLst/>
              <a:rect l="l" t="t" r="r" b="b"/>
              <a:pathLst>
                <a:path w="2527046" h="1299337">
                  <a:moveTo>
                    <a:pt x="0" y="0"/>
                  </a:moveTo>
                  <a:lnTo>
                    <a:pt x="2527046" y="0"/>
                  </a:lnTo>
                  <a:lnTo>
                    <a:pt x="2527046" y="1299337"/>
                  </a:lnTo>
                  <a:lnTo>
                    <a:pt x="0" y="1299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7826079" y="9786979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3784" y="1415536"/>
            <a:ext cx="11409216" cy="1836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</a:pPr>
            <a:r>
              <a:rPr lang="zh-TW" altLang="en-US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事件時間軸 </a:t>
            </a:r>
            <a:r>
              <a:rPr lang="en-US" altLang="zh-TW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(</a:t>
            </a:r>
            <a:r>
              <a:rPr lang="zh-TW" altLang="en-US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前期準備</a:t>
            </a:r>
            <a:r>
              <a:rPr lang="en-US" altLang="zh-TW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)</a:t>
            </a:r>
          </a:p>
          <a:p>
            <a:pPr>
              <a:lnSpc>
                <a:spcPts val="7840"/>
              </a:lnSpc>
            </a:pPr>
            <a:endParaRPr lang="en-US" sz="2799" b="1" dirty="0">
              <a:solidFill>
                <a:srgbClr val="000000"/>
              </a:solidFill>
              <a:latin typeface="Noto Sans T Chinese Bold"/>
              <a:ea typeface="Noto Sans T Chinese Bold"/>
              <a:sym typeface="Noto Sans T Chinese Bold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A18D82D-8AC4-B6CE-2804-6CDC11FF5E78}"/>
              </a:ext>
            </a:extLst>
          </p:cNvPr>
          <p:cNvSpPr txBox="1"/>
          <p:nvPr/>
        </p:nvSpPr>
        <p:spPr>
          <a:xfrm>
            <a:off x="1676400" y="2800531"/>
            <a:ext cx="6931385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19:00</a:t>
            </a:r>
            <a:r>
              <a:rPr sz="2400" b="1" i="0" u="none" dirty="0">
                <a:solidFill>
                  <a:srgbClr val="111827"/>
                </a:solidFill>
                <a:latin typeface="Noto Sans TC"/>
              </a:rPr>
              <a:t>:</a:t>
            </a:r>
            <a:r>
              <a:rPr sz="2400" b="0" i="0" u="none" dirty="0">
                <a:solidFill>
                  <a:srgbClr val="374151"/>
                </a:solidFill>
                <a:latin typeface="Noto Sans TC"/>
              </a:rPr>
              <a:t> </a:t>
            </a:r>
            <a:r>
              <a:rPr sz="2799" b="1" dirty="0" err="1">
                <a:solidFill>
                  <a:srgbClr val="000000"/>
                </a:solidFill>
                <a:latin typeface="Noto Sans T Chinese Bold"/>
                <a:ea typeface="Noto Sans T Chinese Bold"/>
              </a:rPr>
              <a:t>開始測試，發現動力計無法加負載</a:t>
            </a:r>
            <a:r>
              <a:rPr sz="2400" b="0" i="0" u="none" dirty="0">
                <a:solidFill>
                  <a:srgbClr val="374151"/>
                </a:solidFill>
                <a:latin typeface="Noto Sans TC"/>
              </a:rPr>
              <a:t>。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BFDE8C4-4191-A071-EDED-EB2006C42AA9}"/>
              </a:ext>
            </a:extLst>
          </p:cNvPr>
          <p:cNvSpPr txBox="1"/>
          <p:nvPr/>
        </p:nvSpPr>
        <p:spPr>
          <a:xfrm>
            <a:off x="1676400" y="3592891"/>
            <a:ext cx="6354304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20:10: </a:t>
            </a:r>
            <a:r>
              <a:rPr sz="2799" b="1" dirty="0" err="1">
                <a:solidFill>
                  <a:srgbClr val="000000"/>
                </a:solidFill>
                <a:latin typeface="Noto Sans T Chinese Bold"/>
                <a:ea typeface="Noto Sans T Chinese Bold"/>
              </a:rPr>
              <a:t>成功開啟動力計</a:t>
            </a: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 PID </a:t>
            </a:r>
            <a:r>
              <a:rPr sz="2799" b="1" dirty="0" err="1">
                <a:solidFill>
                  <a:srgbClr val="000000"/>
                </a:solidFill>
                <a:latin typeface="Noto Sans T Chinese Bold"/>
                <a:ea typeface="Noto Sans T Chinese Bold"/>
              </a:rPr>
              <a:t>設定頁面</a:t>
            </a: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。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6E445EA1-5308-C24F-D546-6008E1B39FAF}"/>
              </a:ext>
            </a:extLst>
          </p:cNvPr>
          <p:cNvSpPr txBox="1"/>
          <p:nvPr/>
        </p:nvSpPr>
        <p:spPr>
          <a:xfrm>
            <a:off x="1676400" y="4385252"/>
            <a:ext cx="7072449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20:36: </a:t>
            </a:r>
            <a:r>
              <a:rPr sz="2799" b="1" dirty="0" err="1">
                <a:solidFill>
                  <a:srgbClr val="000000"/>
                </a:solidFill>
                <a:latin typeface="Noto Sans T Chinese Bold"/>
                <a:ea typeface="Noto Sans T Chinese Bold"/>
              </a:rPr>
              <a:t>詠仁學長提供動力計</a:t>
            </a: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 PID </a:t>
            </a:r>
            <a:r>
              <a:rPr sz="2799" b="1" dirty="0" err="1">
                <a:solidFill>
                  <a:srgbClr val="000000"/>
                </a:solidFill>
                <a:latin typeface="Noto Sans T Chinese Bold"/>
                <a:ea typeface="Noto Sans T Chinese Bold"/>
              </a:rPr>
              <a:t>參考數值</a:t>
            </a: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。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62910EF-74CB-85A6-0577-B5AC8200ACB0}"/>
              </a:ext>
            </a:extLst>
          </p:cNvPr>
          <p:cNvSpPr txBox="1"/>
          <p:nvPr/>
        </p:nvSpPr>
        <p:spPr>
          <a:xfrm>
            <a:off x="1676400" y="5177613"/>
            <a:ext cx="5576848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21:00: </a:t>
            </a:r>
            <a:r>
              <a:rPr sz="2799" b="1" dirty="0" err="1">
                <a:solidFill>
                  <a:srgbClr val="000000"/>
                </a:solidFill>
                <a:latin typeface="Noto Sans T Chinese Bold"/>
                <a:ea typeface="Noto Sans T Chinese Bold"/>
              </a:rPr>
              <a:t>動力計開始可穩定加負載</a:t>
            </a:r>
            <a:r>
              <a:rPr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9525" y="790431"/>
            <a:ext cx="18307050" cy="47625"/>
            <a:chOff x="0" y="0"/>
            <a:chExt cx="244094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63493"/>
            </a:xfrm>
            <a:custGeom>
              <a:avLst/>
              <a:gdLst/>
              <a:ahLst/>
              <a:cxnLst/>
              <a:rect l="l" t="t" r="r" b="b"/>
              <a:pathLst>
                <a:path w="24409400" h="63493">
                  <a:moveTo>
                    <a:pt x="24409400" y="0"/>
                  </a:moveTo>
                  <a:lnTo>
                    <a:pt x="0" y="0"/>
                  </a:lnTo>
                  <a:lnTo>
                    <a:pt x="0" y="63493"/>
                  </a:lnTo>
                  <a:lnTo>
                    <a:pt x="24409400" y="63493"/>
                  </a:ln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C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5199214" y="47665"/>
            <a:ext cx="3088786" cy="696516"/>
            <a:chOff x="0" y="0"/>
            <a:chExt cx="4118381" cy="9286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8356" cy="928751"/>
            </a:xfrm>
            <a:custGeom>
              <a:avLst/>
              <a:gdLst/>
              <a:ahLst/>
              <a:cxnLst/>
              <a:rect l="l" t="t" r="r" b="b"/>
              <a:pathLst>
                <a:path w="4118356" h="928751">
                  <a:moveTo>
                    <a:pt x="0" y="0"/>
                  </a:moveTo>
                  <a:lnTo>
                    <a:pt x="4118356" y="0"/>
                  </a:lnTo>
                  <a:lnTo>
                    <a:pt x="4118356" y="928751"/>
                  </a:lnTo>
                  <a:lnTo>
                    <a:pt x="0" y="92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402240" y="744180"/>
            <a:ext cx="1895284" cy="974503"/>
            <a:chOff x="0" y="0"/>
            <a:chExt cx="2527046" cy="1299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7046" cy="1299337"/>
            </a:xfrm>
            <a:custGeom>
              <a:avLst/>
              <a:gdLst/>
              <a:ahLst/>
              <a:cxnLst/>
              <a:rect l="l" t="t" r="r" b="b"/>
              <a:pathLst>
                <a:path w="2527046" h="1299337">
                  <a:moveTo>
                    <a:pt x="0" y="0"/>
                  </a:moveTo>
                  <a:lnTo>
                    <a:pt x="2527046" y="0"/>
                  </a:lnTo>
                  <a:lnTo>
                    <a:pt x="2527046" y="1299337"/>
                  </a:lnTo>
                  <a:lnTo>
                    <a:pt x="0" y="1299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7826079" y="9786979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3784" y="1415536"/>
            <a:ext cx="11409216" cy="1836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</a:pPr>
            <a:r>
              <a:rPr lang="zh-TW" altLang="en-US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事件時間軸 </a:t>
            </a:r>
            <a:r>
              <a:rPr lang="en-US" altLang="zh-TW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(</a:t>
            </a:r>
            <a:r>
              <a:rPr lang="zh-TW" altLang="en-US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測試與異常</a:t>
            </a:r>
            <a:r>
              <a:rPr lang="en-US" altLang="zh-TW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)</a:t>
            </a:r>
          </a:p>
          <a:p>
            <a:pPr>
              <a:lnSpc>
                <a:spcPts val="7840"/>
              </a:lnSpc>
            </a:pPr>
            <a:endParaRPr lang="en-US" sz="2799" b="1" dirty="0">
              <a:solidFill>
                <a:srgbClr val="000000"/>
              </a:solidFill>
              <a:latin typeface="Noto Sans T Chinese Bold"/>
              <a:ea typeface="Noto Sans T Chinese Bold"/>
              <a:sym typeface="Noto Sans T Chinese Bold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A18D82D-8AC4-B6CE-2804-6CDC11FF5E78}"/>
              </a:ext>
            </a:extLst>
          </p:cNvPr>
          <p:cNvSpPr txBox="1"/>
          <p:nvPr/>
        </p:nvSpPr>
        <p:spPr>
          <a:xfrm>
            <a:off x="1676400" y="2800531"/>
            <a:ext cx="14093602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21:00 - 21:50: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進行馬達 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PID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與補償角調整。因馬達過熱，每次運轉約 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分鐘即自動停機</a:t>
            </a:r>
            <a:endParaRPr lang="zh-TW" altLang="en-US" sz="2400" b="0" i="0" u="none" dirty="0">
              <a:solidFill>
                <a:srgbClr val="374151"/>
              </a:solidFill>
              <a:latin typeface="Noto Sans TC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BFDE8C4-4191-A071-EDED-EB2006C42AA9}"/>
              </a:ext>
            </a:extLst>
          </p:cNvPr>
          <p:cNvSpPr txBox="1"/>
          <p:nvPr/>
        </p:nvSpPr>
        <p:spPr>
          <a:xfrm>
            <a:off x="1676400" y="3592891"/>
            <a:ext cx="5935920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21:40: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現場開始聞到燒塑膠的味道。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6E445EA1-5308-C24F-D546-6008E1B39FAF}"/>
              </a:ext>
            </a:extLst>
          </p:cNvPr>
          <p:cNvSpPr txBox="1"/>
          <p:nvPr/>
        </p:nvSpPr>
        <p:spPr>
          <a:xfrm>
            <a:off x="1676400" y="4385252"/>
            <a:ext cx="8024633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21:50: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馬達測試，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7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分鐘後再度因過熱自動停機。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62910EF-74CB-85A6-0577-B5AC8200ACB0}"/>
              </a:ext>
            </a:extLst>
          </p:cNvPr>
          <p:cNvSpPr txBox="1"/>
          <p:nvPr/>
        </p:nvSpPr>
        <p:spPr>
          <a:xfrm>
            <a:off x="1676400" y="5177613"/>
            <a:ext cx="7731284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22:00: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電源供應器右上角冒煙，立即手動斷電。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C4E505-7ADC-AC8E-42DE-F81C179F22DB}"/>
              </a:ext>
            </a:extLst>
          </p:cNvPr>
          <p:cNvSpPr txBox="1"/>
          <p:nvPr/>
        </p:nvSpPr>
        <p:spPr>
          <a:xfrm>
            <a:off x="1676400" y="5969973"/>
            <a:ext cx="7845096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備註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: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冒煙當下，電源供應器仍在正常工作狀態。</a:t>
            </a:r>
          </a:p>
        </p:txBody>
      </p:sp>
    </p:spTree>
    <p:extLst>
      <p:ext uri="{BB962C8B-B14F-4D97-AF65-F5344CB8AC3E}">
        <p14:creationId xmlns:p14="http://schemas.microsoft.com/office/powerpoint/2010/main" val="219408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9525" y="790431"/>
            <a:ext cx="18307050" cy="47625"/>
            <a:chOff x="0" y="0"/>
            <a:chExt cx="244094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63493"/>
            </a:xfrm>
            <a:custGeom>
              <a:avLst/>
              <a:gdLst/>
              <a:ahLst/>
              <a:cxnLst/>
              <a:rect l="l" t="t" r="r" b="b"/>
              <a:pathLst>
                <a:path w="24409400" h="63493">
                  <a:moveTo>
                    <a:pt x="24409400" y="0"/>
                  </a:moveTo>
                  <a:lnTo>
                    <a:pt x="0" y="0"/>
                  </a:lnTo>
                  <a:lnTo>
                    <a:pt x="0" y="63493"/>
                  </a:lnTo>
                  <a:lnTo>
                    <a:pt x="24409400" y="63493"/>
                  </a:ln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C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5199214" y="47665"/>
            <a:ext cx="3088786" cy="696516"/>
            <a:chOff x="0" y="0"/>
            <a:chExt cx="4118381" cy="9286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8356" cy="928751"/>
            </a:xfrm>
            <a:custGeom>
              <a:avLst/>
              <a:gdLst/>
              <a:ahLst/>
              <a:cxnLst/>
              <a:rect l="l" t="t" r="r" b="b"/>
              <a:pathLst>
                <a:path w="4118356" h="928751">
                  <a:moveTo>
                    <a:pt x="0" y="0"/>
                  </a:moveTo>
                  <a:lnTo>
                    <a:pt x="4118356" y="0"/>
                  </a:lnTo>
                  <a:lnTo>
                    <a:pt x="4118356" y="928751"/>
                  </a:lnTo>
                  <a:lnTo>
                    <a:pt x="0" y="92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402240" y="744180"/>
            <a:ext cx="1895284" cy="974503"/>
            <a:chOff x="0" y="0"/>
            <a:chExt cx="2527046" cy="1299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7046" cy="1299337"/>
            </a:xfrm>
            <a:custGeom>
              <a:avLst/>
              <a:gdLst/>
              <a:ahLst/>
              <a:cxnLst/>
              <a:rect l="l" t="t" r="r" b="b"/>
              <a:pathLst>
                <a:path w="2527046" h="1299337">
                  <a:moveTo>
                    <a:pt x="0" y="0"/>
                  </a:moveTo>
                  <a:lnTo>
                    <a:pt x="2527046" y="0"/>
                  </a:lnTo>
                  <a:lnTo>
                    <a:pt x="2527046" y="1299337"/>
                  </a:lnTo>
                  <a:lnTo>
                    <a:pt x="0" y="1299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7826079" y="9786979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3784" y="1415536"/>
            <a:ext cx="11409216" cy="18361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840"/>
              </a:lnSpc>
            </a:pPr>
            <a:r>
              <a:rPr lang="zh-TW" altLang="en-US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運轉參數 </a:t>
            </a:r>
            <a:r>
              <a:rPr lang="en-US" altLang="zh-TW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(21:00 - 21:50 </a:t>
            </a:r>
            <a:r>
              <a:rPr lang="zh-TW" altLang="en-US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參數調整期</a:t>
            </a:r>
            <a:r>
              <a:rPr lang="en-US" altLang="zh-TW" sz="5600" b="1" dirty="0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)</a:t>
            </a:r>
          </a:p>
          <a:p>
            <a:pPr>
              <a:lnSpc>
                <a:spcPts val="7840"/>
              </a:lnSpc>
            </a:pPr>
            <a:endParaRPr lang="en-US" sz="2799" b="1" dirty="0">
              <a:solidFill>
                <a:srgbClr val="000000"/>
              </a:solidFill>
              <a:latin typeface="Noto Sans T Chinese Bold"/>
              <a:ea typeface="Noto Sans T Chinese Bold"/>
              <a:sym typeface="Noto Sans T Chinese Bold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A18D82D-8AC4-B6CE-2804-6CDC11FF5E78}"/>
              </a:ext>
            </a:extLst>
          </p:cNvPr>
          <p:cNvSpPr txBox="1"/>
          <p:nvPr/>
        </p:nvSpPr>
        <p:spPr>
          <a:xfrm>
            <a:off x="1676400" y="2800531"/>
            <a:ext cx="3323026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環境溫度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: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室溫 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30℃</a:t>
            </a:r>
            <a:endParaRPr lang="zh-TW" altLang="en-US" sz="2400" b="0" i="0" u="none" dirty="0">
              <a:solidFill>
                <a:srgbClr val="374151"/>
              </a:solidFill>
              <a:latin typeface="Noto Sans TC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BFDE8C4-4191-A071-EDED-EB2006C42AA9}"/>
              </a:ext>
            </a:extLst>
          </p:cNvPr>
          <p:cNvSpPr txBox="1"/>
          <p:nvPr/>
        </p:nvSpPr>
        <p:spPr>
          <a:xfrm>
            <a:off x="1676400" y="3592891"/>
            <a:ext cx="8579272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運轉狀態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: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每次運轉約 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2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分鐘即因馬達過熱自動停機。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6E445EA1-5308-C24F-D546-6008E1B39FAF}"/>
              </a:ext>
            </a:extLst>
          </p:cNvPr>
          <p:cNvSpPr txBox="1"/>
          <p:nvPr/>
        </p:nvSpPr>
        <p:spPr>
          <a:xfrm>
            <a:off x="1676400" y="4385252"/>
            <a:ext cx="4076437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輸出功率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: 500 - 600 W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。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62910EF-74CB-85A6-0577-B5AC8200ACB0}"/>
              </a:ext>
            </a:extLst>
          </p:cNvPr>
          <p:cNvSpPr txBox="1"/>
          <p:nvPr/>
        </p:nvSpPr>
        <p:spPr>
          <a:xfrm>
            <a:off x="1676400" y="5177613"/>
            <a:ext cx="5607304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電壓 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/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電流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: 48 - 49 V / 11 - 13 A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。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C4E505-7ADC-AC8E-42DE-F81C179F22DB}"/>
              </a:ext>
            </a:extLst>
          </p:cNvPr>
          <p:cNvSpPr txBox="1"/>
          <p:nvPr/>
        </p:nvSpPr>
        <p:spPr>
          <a:xfrm>
            <a:off x="1676400" y="5969973"/>
            <a:ext cx="6780702" cy="451149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轉速 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/ 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扭力</a:t>
            </a:r>
            <a:r>
              <a:rPr lang="en-US" altLang="zh-TW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: 3000-3400 RPM / 1.5 - 1.8</a:t>
            </a:r>
            <a:r>
              <a:rPr lang="zh-TW" altLang="en-US" sz="2799" b="1" dirty="0">
                <a:solidFill>
                  <a:srgbClr val="000000"/>
                </a:solidFill>
                <a:latin typeface="Noto Sans T Chinese Bold"/>
                <a:ea typeface="Noto Sans T Chinese Bold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4068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9525" y="790431"/>
            <a:ext cx="18307050" cy="47625"/>
            <a:chOff x="0" y="0"/>
            <a:chExt cx="24409400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63493"/>
            </a:xfrm>
            <a:custGeom>
              <a:avLst/>
              <a:gdLst/>
              <a:ahLst/>
              <a:cxnLst/>
              <a:rect l="l" t="t" r="r" b="b"/>
              <a:pathLst>
                <a:path w="24409400" h="63493">
                  <a:moveTo>
                    <a:pt x="24409400" y="0"/>
                  </a:moveTo>
                  <a:lnTo>
                    <a:pt x="0" y="0"/>
                  </a:lnTo>
                  <a:lnTo>
                    <a:pt x="0" y="63493"/>
                  </a:lnTo>
                  <a:lnTo>
                    <a:pt x="24409400" y="63493"/>
                  </a:lnTo>
                  <a:close/>
                </a:path>
              </a:pathLst>
            </a:custGeom>
            <a:solidFill>
              <a:srgbClr val="C00000"/>
            </a:solidFill>
            <a:ln w="19050" cap="sq">
              <a:solidFill>
                <a:srgbClr val="C00000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5199214" y="47665"/>
            <a:ext cx="3088786" cy="696516"/>
            <a:chOff x="0" y="0"/>
            <a:chExt cx="4118381" cy="9286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18356" cy="928751"/>
            </a:xfrm>
            <a:custGeom>
              <a:avLst/>
              <a:gdLst/>
              <a:ahLst/>
              <a:cxnLst/>
              <a:rect l="l" t="t" r="r" b="b"/>
              <a:pathLst>
                <a:path w="4118356" h="928751">
                  <a:moveTo>
                    <a:pt x="0" y="0"/>
                  </a:moveTo>
                  <a:lnTo>
                    <a:pt x="4118356" y="0"/>
                  </a:lnTo>
                  <a:lnTo>
                    <a:pt x="4118356" y="928751"/>
                  </a:lnTo>
                  <a:lnTo>
                    <a:pt x="0" y="928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402240" y="744180"/>
            <a:ext cx="1895284" cy="974503"/>
            <a:chOff x="0" y="0"/>
            <a:chExt cx="2527046" cy="1299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27046" cy="1299337"/>
            </a:xfrm>
            <a:custGeom>
              <a:avLst/>
              <a:gdLst/>
              <a:ahLst/>
              <a:cxnLst/>
              <a:rect l="l" t="t" r="r" b="b"/>
              <a:pathLst>
                <a:path w="2527046" h="1299337">
                  <a:moveTo>
                    <a:pt x="0" y="0"/>
                  </a:moveTo>
                  <a:lnTo>
                    <a:pt x="2527046" y="0"/>
                  </a:lnTo>
                  <a:lnTo>
                    <a:pt x="2527046" y="1299337"/>
                  </a:lnTo>
                  <a:lnTo>
                    <a:pt x="0" y="1299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7826079" y="9786979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2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81FF0AC-42A9-FD68-8719-4FCED1EB5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83" y="1409700"/>
            <a:ext cx="4904577" cy="65379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橢圓 10">
            <a:extLst>
              <a:ext uri="{FF2B5EF4-FFF2-40B4-BE49-F238E27FC236}">
                <a16:creationId xmlns:a16="http://schemas.microsoft.com/office/drawing/2014/main" id="{256A1712-18FF-7B54-18FA-FF6909E96445}"/>
              </a:ext>
            </a:extLst>
          </p:cNvPr>
          <p:cNvSpPr/>
          <p:nvPr/>
        </p:nvSpPr>
        <p:spPr>
          <a:xfrm>
            <a:off x="3682083" y="3390900"/>
            <a:ext cx="1179576" cy="79552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329DFF3-6615-07C9-4C89-5809B5BD538B}"/>
              </a:ext>
            </a:extLst>
          </p:cNvPr>
          <p:cNvSpPr txBox="1"/>
          <p:nvPr/>
        </p:nvSpPr>
        <p:spPr>
          <a:xfrm>
            <a:off x="6469681" y="2705100"/>
            <a:ext cx="9163878" cy="523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799" b="1">
                <a:solidFill>
                  <a:srgbClr val="000000"/>
                </a:solidFill>
                <a:latin typeface="Noto Sans T Chinese Bold"/>
                <a:ea typeface="Noto Sans T Chinese Bold"/>
              </a:rPr>
              <a:t>紅圈為發煙點</a:t>
            </a:r>
            <a:endParaRPr lang="zh-TW" altLang="en-US" sz="2799" b="1" dirty="0">
              <a:solidFill>
                <a:srgbClr val="000000"/>
              </a:solidFill>
              <a:latin typeface="Noto Sans T Chinese Bold"/>
              <a:ea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28181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2768</TotalTime>
  <Words>207</Words>
  <Application>Microsoft Office PowerPoint</Application>
  <PresentationFormat>自訂</PresentationFormat>
  <Paragraphs>35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Calibri</vt:lpstr>
      <vt:lpstr>Noto Sans T Chinese Bold</vt:lpstr>
      <vt:lpstr>Noto Sans T Chinese</vt:lpstr>
      <vt:lpstr>Arial</vt:lpstr>
      <vt:lpstr>Noto Sans TC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SAE環保節能車隊會議範本.pptx</dc:title>
  <dc:creator>Dashbow</dc:creator>
  <cp:lastModifiedBy>昱昇 黃</cp:lastModifiedBy>
  <cp:revision>8</cp:revision>
  <dcterms:created xsi:type="dcterms:W3CDTF">2006-08-16T00:00:00Z</dcterms:created>
  <dcterms:modified xsi:type="dcterms:W3CDTF">2026-10-22T09:07:06Z</dcterms:modified>
  <dc:identifier>DAHUxhcVlvo</dc:identifier>
</cp:coreProperties>
</file>